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3" r:id="rId4"/>
    <p:sldId id="258" r:id="rId5"/>
    <p:sldId id="260" r:id="rId6"/>
    <p:sldId id="265" r:id="rId7"/>
    <p:sldId id="262" r:id="rId8"/>
    <p:sldId id="261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C6A"/>
    <a:srgbClr val="320175"/>
    <a:srgbClr val="41258C"/>
    <a:srgbClr val="010D1D"/>
    <a:srgbClr val="080C39"/>
    <a:srgbClr val="18297E"/>
    <a:srgbClr val="1523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9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A2FFD9-21D6-68F3-CAD3-A0C9670B64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A9F6071-7C19-5B6F-B1B4-5C0909A26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CB308F-2026-22DD-E4ED-4379E781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CBAE21B-B88E-DD9B-593C-9F1188AE7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62B35A-CCC0-3373-9466-D84E04D2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353ECE-1355-5E23-C56D-3856344CC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0423D2-8DAA-F2DF-DA74-4E4F2A89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43C7ED3-8C15-B68C-12E0-620107FC2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C288BC-434B-9F36-820E-098AD4F5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EA62FAE-AC32-7D09-A618-1DD814B50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408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20C8C0-F0DA-4FB0-EBEE-53CFAA25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C4F44B7-80BB-84B2-7CF5-335E0525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8C70E6-1A19-A019-4CFD-BFD40EEA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E896179-0BD8-FC50-4FCB-C2EC6E44B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16ED6AC-F435-CF4F-16D9-B0CDBCF3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5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F55F75-6FA8-2203-BDAF-A98E6A43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A892550-3665-C389-0F2F-D62838C43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AC6BC83-C1FD-0BF5-5F73-F362E02D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45F653F-ED34-E8DD-E389-B03F56C54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F66D84-6D4D-BD33-A4B7-39E1223F5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06D329-0587-73F9-FA3F-26328583F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AC836C-64F1-C9B0-9FFD-D2B87F8D5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DDA1F1F-F8C9-016F-3894-DBA8EC20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4F0D274-369D-D944-784F-E86FEB359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C9F1805-12CE-2F40-C853-A270037CD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47D1F4D-ACE0-D3B8-4A3F-EF3235F5C5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E508A7F-350E-9AA9-CAA4-B3C8A4BE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FF8CBCA-F83C-3B7F-099F-DAA21447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C3F147-DE2A-9131-CB9A-64A9AD3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07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C92432-A462-34A1-E262-4E8D232B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317FC41-85EB-4B76-29A2-4B93550CE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71EE1EA-AB37-F8B3-003D-263561854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2C29E8B-5D02-88F5-587F-13FCA94BD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88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C686576-838E-C7D6-682B-5C66CE6DD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63EC23D-4436-B11D-DC32-CAF0A3BBE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CA41789-7676-BD65-BE1F-A8F54B97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46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01D2EE-38F0-92C7-B4C6-1407D355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A447559-832D-F5B1-FB5C-998758C06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986224E-4028-8298-E2EA-629044263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60144D1-2C06-DFCF-B0E3-475E26851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7F6F18F-AD1A-4C5B-A2C0-367AF84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CA0F8AD-9571-0F21-5D9E-F0B956AF8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9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8755E1-6D89-C403-0393-A675267D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82AEFFF-C91F-3510-06D7-F2E6AF7D1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A1FC449-EA75-3C52-B7C4-03C268949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C43DA49-908B-8C91-AC59-86998772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90D5344-2D41-5CA3-3913-5DAC1BD3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921B1734-4395-C153-5FFF-2E62BAED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70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A17298-1CF8-5A78-9F4D-30043A74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7D30058-B063-2C0A-23F8-F03651AECB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1CAC902-BEAD-7425-9F2E-4CE71F00A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4DCD83-7678-6A6B-B392-7AB56BD47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9E106D-E184-923D-2EC6-E754024C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9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F02E1F8-1ED7-1046-ABC5-E90F98B0D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90A97F2-DB6A-B1A5-A7F5-9F5A87ECC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F1349C7-2757-0ADB-E2BC-5A0A45FF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4FF1977-0AAE-E3E4-3417-6FF1A585C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3FD8FA-EF38-F0F2-2553-5825025F3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1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2F5E2687-2924-3BA1-3F98-CB01309C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072CAA9-535E-0C37-8364-82B1ECFEE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B9FD9BB-F848-41CD-85E7-9C1E344819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F4D2E-4D99-4697-A294-4A64860C3E80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2AB9C8F-EDE4-59A2-CBDB-7053EB1E8B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0AD16B5-23EF-69BF-B0C2-F27597FEC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6BA0-C556-49DB-8335-F18EB8EA2E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89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8297E"/>
            </a:gs>
            <a:gs pos="72000">
              <a:srgbClr val="080C39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5AFC86D-8C72-BDA6-AA77-512F65F6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49427" y="1110528"/>
            <a:ext cx="8283428" cy="5753142"/>
          </a:xfrm>
          <a:custGeom>
            <a:avLst/>
            <a:gdLst>
              <a:gd name="connsiteX0" fmla="*/ 0 w 8283428"/>
              <a:gd name="connsiteY0" fmla="*/ 0 h 5753142"/>
              <a:gd name="connsiteX1" fmla="*/ 8283429 w 8283428"/>
              <a:gd name="connsiteY1" fmla="*/ 0 h 5753142"/>
              <a:gd name="connsiteX2" fmla="*/ 8283429 w 8283428"/>
              <a:gd name="connsiteY2" fmla="*/ 5753143 h 5753142"/>
              <a:gd name="connsiteX3" fmla="*/ 0 w 8283428"/>
              <a:gd name="connsiteY3" fmla="*/ 5753143 h 5753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83428" h="5753142">
                <a:moveTo>
                  <a:pt x="0" y="0"/>
                </a:moveTo>
                <a:lnTo>
                  <a:pt x="8283429" y="0"/>
                </a:lnTo>
                <a:lnTo>
                  <a:pt x="8283429" y="5753143"/>
                </a:lnTo>
                <a:lnTo>
                  <a:pt x="0" y="5753143"/>
                </a:lnTo>
                <a:close/>
              </a:path>
            </a:pathLst>
          </a:cu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829E644A-BAD0-C2F2-525A-11F9F4D0F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480" y="66073"/>
            <a:ext cx="6171428" cy="6912000"/>
          </a:xfrm>
          <a:custGeom>
            <a:avLst/>
            <a:gdLst>
              <a:gd name="connsiteX0" fmla="*/ 0 w 6171428"/>
              <a:gd name="connsiteY0" fmla="*/ 0 h 6912000"/>
              <a:gd name="connsiteX1" fmla="*/ 6171429 w 6171428"/>
              <a:gd name="connsiteY1" fmla="*/ 0 h 6912000"/>
              <a:gd name="connsiteX2" fmla="*/ 6171429 w 6171428"/>
              <a:gd name="connsiteY2" fmla="*/ 6912000 h 6912000"/>
              <a:gd name="connsiteX3" fmla="*/ 0 w 6171428"/>
              <a:gd name="connsiteY3" fmla="*/ 6912000 h 691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71428" h="6912000">
                <a:moveTo>
                  <a:pt x="0" y="0"/>
                </a:moveTo>
                <a:lnTo>
                  <a:pt x="6171429" y="0"/>
                </a:lnTo>
                <a:lnTo>
                  <a:pt x="6171429" y="6912000"/>
                </a:lnTo>
                <a:lnTo>
                  <a:pt x="0" y="6912000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9621D5D3-CC9C-1C97-ECA6-3CE57A14A88C}"/>
              </a:ext>
            </a:extLst>
          </p:cNvPr>
          <p:cNvGrpSpPr/>
          <p:nvPr/>
        </p:nvGrpSpPr>
        <p:grpSpPr>
          <a:xfrm>
            <a:off x="512907" y="717348"/>
            <a:ext cx="11166184" cy="5423305"/>
            <a:chOff x="672695" y="806116"/>
            <a:chExt cx="11166184" cy="542330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xmlns="" id="{DA0BE804-CB7E-44A2-59DA-8D122404C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72695" y="806116"/>
              <a:ext cx="5423305" cy="5423305"/>
            </a:xfrm>
            <a:prstGeom prst="ellipse">
              <a:avLst/>
            </a:prstGeom>
            <a:effectLst>
              <a:outerShdw blurRad="215900" sx="102000" sy="102000" algn="ctr" rotWithShape="0">
                <a:prstClr val="black">
                  <a:alpha val="21000"/>
                </a:prstClr>
              </a:outerShdw>
            </a:effectLst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xmlns="" id="{8096A79A-EFC6-9120-3F76-1F5A91805A07}"/>
                </a:ext>
              </a:extLst>
            </p:cNvPr>
            <p:cNvGrpSpPr/>
            <p:nvPr/>
          </p:nvGrpSpPr>
          <p:grpSpPr>
            <a:xfrm>
              <a:off x="6701082" y="2404331"/>
              <a:ext cx="5137797" cy="3093009"/>
              <a:chOff x="6701082" y="2090882"/>
              <a:chExt cx="5137797" cy="3093009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xmlns="" id="{CD4FB181-E993-4356-3C89-7D20ACF1B29D}"/>
                  </a:ext>
                </a:extLst>
              </p:cNvPr>
              <p:cNvSpPr txBox="1"/>
              <p:nvPr/>
            </p:nvSpPr>
            <p:spPr>
              <a:xfrm>
                <a:off x="6701082" y="2090882"/>
                <a:ext cx="5137797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4400" dirty="0">
                    <a:solidFill>
                      <a:schemeClr val="bg1"/>
                    </a:solidFill>
                  </a:rPr>
                  <a:t>Phishing Awareness Training</a:t>
                </a:r>
                <a:endParaRPr lang="en-US" sz="44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xmlns="" id="{C9F0C68D-51E9-891C-5B41-93587C998E17}"/>
                  </a:ext>
                </a:extLst>
              </p:cNvPr>
              <p:cNvSpPr/>
              <p:nvPr/>
            </p:nvSpPr>
            <p:spPr>
              <a:xfrm>
                <a:off x="6876059" y="3855708"/>
                <a:ext cx="4787845" cy="1328183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/>
                  <a:t>Cyber Security Internship Task - </a:t>
                </a:r>
                <a:r>
                  <a:rPr lang="en-US" sz="2400" dirty="0" err="1"/>
                  <a:t>CodeAlpha</a:t>
                </a:r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en-US" sz="2400" dirty="0" err="1" smtClean="0"/>
                  <a:t>JaneAlam</a:t>
                </a:r>
                <a:endParaRPr lang="en-US" sz="2400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276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8D7FD30B-231C-FE5A-9E06-55E238C20E74}"/>
              </a:ext>
            </a:extLst>
          </p:cNvPr>
          <p:cNvGrpSpPr/>
          <p:nvPr/>
        </p:nvGrpSpPr>
        <p:grpSpPr>
          <a:xfrm>
            <a:off x="865676" y="625353"/>
            <a:ext cx="10460648" cy="5607295"/>
            <a:chOff x="797169" y="625353"/>
            <a:chExt cx="10460648" cy="5607295"/>
          </a:xfrm>
        </p:grpSpPr>
        <p:pic>
          <p:nvPicPr>
            <p:cNvPr id="1028" name="Picture 4" descr="Free photo ai cybersecurity, virus protection in machine learning">
              <a:extLst>
                <a:ext uri="{FF2B5EF4-FFF2-40B4-BE49-F238E27FC236}">
                  <a16:creationId xmlns:a16="http://schemas.microsoft.com/office/drawing/2014/main" xmlns="" id="{48789374-4C17-C4D2-C32C-A8812840C2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522" y="625353"/>
              <a:ext cx="5607295" cy="5607295"/>
            </a:xfrm>
            <a:prstGeom prst="ellipse">
              <a:avLst/>
            </a:prstGeom>
            <a:noFill/>
            <a:effectLst>
              <a:outerShdw blurRad="127000" sx="102000" sy="102000" algn="ctr" rotWithShape="0">
                <a:prstClr val="black">
                  <a:alpha val="25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xmlns="" id="{471F09F3-A43F-4A35-85B8-34272EFBCF8D}"/>
                </a:ext>
              </a:extLst>
            </p:cNvPr>
            <p:cNvGrpSpPr/>
            <p:nvPr/>
          </p:nvGrpSpPr>
          <p:grpSpPr>
            <a:xfrm>
              <a:off x="797169" y="1752030"/>
              <a:ext cx="4185139" cy="2950625"/>
              <a:chOff x="797169" y="1638273"/>
              <a:chExt cx="4185139" cy="2950625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0DAB61DF-A0B1-1607-6124-5D3E2FF2A213}"/>
                  </a:ext>
                </a:extLst>
              </p:cNvPr>
              <p:cNvSpPr txBox="1"/>
              <p:nvPr/>
            </p:nvSpPr>
            <p:spPr>
              <a:xfrm>
                <a:off x="797169" y="1638273"/>
                <a:ext cx="400929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</a:rPr>
                  <a:t>What is Phishing?</a:t>
                </a:r>
                <a:r>
                  <a:rPr lang="en-US" sz="3600" b="1" i="0" dirty="0" smtClean="0">
                    <a:solidFill>
                      <a:schemeClr val="bg1"/>
                    </a:solidFill>
                    <a:effectLst/>
                    <a:latin typeface="Montserrat" panose="00000500000000000000" pitchFamily="2" charset="0"/>
                  </a:rPr>
                  <a:t> </a:t>
                </a:r>
                <a:endParaRPr lang="en-US" sz="36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="" id="{52794E9A-0198-6AE2-57D8-808DF0EF1E94}"/>
                  </a:ext>
                </a:extLst>
              </p:cNvPr>
              <p:cNvSpPr txBox="1"/>
              <p:nvPr/>
            </p:nvSpPr>
            <p:spPr>
              <a:xfrm>
                <a:off x="797169" y="2453698"/>
                <a:ext cx="4185139" cy="21352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bg1"/>
                    </a:solidFill>
                  </a:rPr>
                  <a:t>Phishing is a cyber attack where attackers trick users into revealing sensitive information like passwords, credit card details, or personal data by pretending to be a trusted source.</a:t>
                </a:r>
                <a:endParaRPr lang="en-US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681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B09B91D1-2794-B2F4-450E-2E2D202F2AE9}"/>
              </a:ext>
            </a:extLst>
          </p:cNvPr>
          <p:cNvGrpSpPr/>
          <p:nvPr/>
        </p:nvGrpSpPr>
        <p:grpSpPr>
          <a:xfrm>
            <a:off x="-157018" y="368473"/>
            <a:ext cx="12192000" cy="5585468"/>
            <a:chOff x="0" y="518301"/>
            <a:chExt cx="12192000" cy="559679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xmlns="" id="{8BC36E6B-0399-57C6-81F9-D870CBB45FE6}"/>
                </a:ext>
              </a:extLst>
            </p:cNvPr>
            <p:cNvGrpSpPr/>
            <p:nvPr/>
          </p:nvGrpSpPr>
          <p:grpSpPr>
            <a:xfrm>
              <a:off x="386861" y="1776046"/>
              <a:ext cx="11418278" cy="4339046"/>
              <a:chOff x="328246" y="1776046"/>
              <a:chExt cx="11418278" cy="433904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xmlns="" id="{6D94F22B-FFBC-1E5E-59B6-2C04E8C37268}"/>
                  </a:ext>
                </a:extLst>
              </p:cNvPr>
              <p:cNvGrpSpPr/>
              <p:nvPr/>
            </p:nvGrpSpPr>
            <p:grpSpPr>
              <a:xfrm>
                <a:off x="328246" y="1776046"/>
                <a:ext cx="3560336" cy="4339046"/>
                <a:chOff x="328246" y="1776046"/>
                <a:chExt cx="3560336" cy="4339046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xmlns="" id="{593A760C-B0FC-5DE6-5321-9C3FB4C06DCA}"/>
                    </a:ext>
                  </a:extLst>
                </p:cNvPr>
                <p:cNvSpPr/>
                <p:nvPr/>
              </p:nvSpPr>
              <p:spPr>
                <a:xfrm>
                  <a:off x="328246" y="1776046"/>
                  <a:ext cx="3560336" cy="4339046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6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xmlns="" id="{590518F3-66C8-BE98-8B80-84AD04F4D5D8}"/>
                    </a:ext>
                  </a:extLst>
                </p:cNvPr>
                <p:cNvSpPr txBox="1"/>
                <p:nvPr/>
              </p:nvSpPr>
              <p:spPr>
                <a:xfrm>
                  <a:off x="496491" y="5508702"/>
                  <a:ext cx="32238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bg1"/>
                      </a:solidFill>
                    </a:rPr>
                    <a:t>Types of Phishing</a:t>
                  </a:r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8" name="Picture 2" descr="Top 7 Network Security Tools for 2020">
                  <a:extLst>
                    <a:ext uri="{FF2B5EF4-FFF2-40B4-BE49-F238E27FC236}">
                      <a16:creationId xmlns:a16="http://schemas.microsoft.com/office/drawing/2014/main" xmlns="" id="{D96D6D91-B7E1-7405-A94A-EF30C4E0B8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983" t="3695" r="25183" b="3527"/>
                <a:stretch/>
              </p:blipFill>
              <p:spPr bwMode="auto">
                <a:xfrm>
                  <a:off x="458771" y="1887053"/>
                  <a:ext cx="3299286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xmlns="" id="{F9A86B98-25DA-3D3B-DE63-A4F92226AE5D}"/>
                  </a:ext>
                </a:extLst>
              </p:cNvPr>
              <p:cNvGrpSpPr/>
              <p:nvPr/>
            </p:nvGrpSpPr>
            <p:grpSpPr>
              <a:xfrm>
                <a:off x="4257217" y="1776046"/>
                <a:ext cx="3560336" cy="4339046"/>
                <a:chOff x="4185626" y="1776046"/>
                <a:chExt cx="3560336" cy="4339046"/>
              </a:xfrm>
            </p:grpSpPr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xmlns="" id="{48488127-1DE1-01B9-94EF-11A740B76B62}"/>
                    </a:ext>
                  </a:extLst>
                </p:cNvPr>
                <p:cNvSpPr/>
                <p:nvPr/>
              </p:nvSpPr>
              <p:spPr>
                <a:xfrm>
                  <a:off x="4185626" y="1776046"/>
                  <a:ext cx="3560336" cy="4339046"/>
                </a:xfrm>
                <a:prstGeom prst="rect">
                  <a:avLst/>
                </a:prstGeom>
                <a:gradFill>
                  <a:gsLst>
                    <a:gs pos="0">
                      <a:srgbClr val="41258C"/>
                    </a:gs>
                    <a:gs pos="75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xmlns="" id="{010BA463-A090-218C-49FE-547A14D67F9A}"/>
                    </a:ext>
                  </a:extLst>
                </p:cNvPr>
                <p:cNvSpPr txBox="1"/>
                <p:nvPr/>
              </p:nvSpPr>
              <p:spPr>
                <a:xfrm>
                  <a:off x="4353871" y="5508702"/>
                  <a:ext cx="322384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9" name="Picture 4" descr="Endpoint Security: Today's Cybersecurity Is Endpoint Protection - New">
                  <a:extLst>
                    <a:ext uri="{FF2B5EF4-FFF2-40B4-BE49-F238E27FC236}">
                      <a16:creationId xmlns:a16="http://schemas.microsoft.com/office/drawing/2014/main" xmlns="" id="{3EEA6CFE-9402-3101-2C19-D2AD1703338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61" r="55000"/>
                <a:stretch/>
              </p:blipFill>
              <p:spPr bwMode="auto">
                <a:xfrm>
                  <a:off x="4266008" y="1887053"/>
                  <a:ext cx="3399573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xmlns="" id="{9CC0E1F8-2397-5038-ADD7-C09D288ABE4D}"/>
                  </a:ext>
                </a:extLst>
              </p:cNvPr>
              <p:cNvGrpSpPr/>
              <p:nvPr/>
            </p:nvGrpSpPr>
            <p:grpSpPr>
              <a:xfrm>
                <a:off x="8186188" y="1776046"/>
                <a:ext cx="3560336" cy="4339046"/>
                <a:chOff x="8186188" y="1776046"/>
                <a:chExt cx="3560336" cy="4339046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xmlns="" id="{A7AEA502-89AE-4447-8D27-B578A8BF4D7D}"/>
                    </a:ext>
                  </a:extLst>
                </p:cNvPr>
                <p:cNvSpPr/>
                <p:nvPr/>
              </p:nvSpPr>
              <p:spPr>
                <a:xfrm>
                  <a:off x="8186188" y="1776046"/>
                  <a:ext cx="3560336" cy="4339046"/>
                </a:xfrm>
                <a:prstGeom prst="rect">
                  <a:avLst/>
                </a:prstGeom>
                <a:solidFill>
                  <a:schemeClr val="bg1">
                    <a:lumMod val="50000"/>
                    <a:alpha val="36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xmlns="" id="{F3CA6FFC-EC85-50DA-F53F-04D39E8AAEC9}"/>
                    </a:ext>
                  </a:extLst>
                </p:cNvPr>
                <p:cNvSpPr txBox="1"/>
                <p:nvPr/>
              </p:nvSpPr>
              <p:spPr>
                <a:xfrm>
                  <a:off x="8354433" y="5508702"/>
                  <a:ext cx="3223846" cy="4626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 err="1">
                      <a:solidFill>
                        <a:schemeClr val="bg1"/>
                      </a:solidFill>
                    </a:rPr>
                    <a:t>Smishing</a:t>
                  </a:r>
                  <a:r>
                    <a:rPr lang="en-US" sz="2400" dirty="0">
                      <a:solidFill>
                        <a:schemeClr val="bg1"/>
                      </a:solidFill>
                    </a:rPr>
                    <a:t> (SMS phishing)</a:t>
                  </a:r>
                  <a:endParaRPr lang="en-US" sz="2400" b="1" dirty="0">
                    <a:solidFill>
                      <a:schemeClr val="bg1"/>
                    </a:solidFill>
                    <a:latin typeface="Montserrat" panose="00000500000000000000" pitchFamily="2" charset="0"/>
                    <a:cs typeface="Leelawadee" panose="020B0502040204020203" pitchFamily="34" charset="-34"/>
                  </a:endParaRPr>
                </a:p>
              </p:txBody>
            </p:sp>
            <p:pic>
              <p:nvPicPr>
                <p:cNvPr id="10" name="Picture 6" descr="Learn what you need to become a privacy and data protection expert for $20  | ZDNET">
                  <a:extLst>
                    <a:ext uri="{FF2B5EF4-FFF2-40B4-BE49-F238E27FC236}">
                      <a16:creationId xmlns:a16="http://schemas.microsoft.com/office/drawing/2014/main" xmlns="" id="{106D4F05-6914-4DAD-6B44-58034020A40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302602" y="1887053"/>
                  <a:ext cx="3327508" cy="340793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B1C00194-D567-151E-9BBF-E3CB61C744E9}"/>
                </a:ext>
              </a:extLst>
            </p:cNvPr>
            <p:cNvSpPr txBox="1"/>
            <p:nvPr/>
          </p:nvSpPr>
          <p:spPr>
            <a:xfrm>
              <a:off x="0" y="518301"/>
              <a:ext cx="121920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dirty="0">
                  <a:solidFill>
                    <a:schemeClr val="bg1"/>
                  </a:solidFill>
                </a:rPr>
                <a:t>Types of Phishing</a:t>
              </a:r>
              <a:endParaRPr lang="en-US" sz="3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4703708" y="5360051"/>
            <a:ext cx="25098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Smishing</a:t>
            </a:r>
            <a:r>
              <a:rPr lang="en-US" dirty="0">
                <a:solidFill>
                  <a:schemeClr val="bg1"/>
                </a:solidFill>
              </a:rPr>
              <a:t> (SMS phishing)</a:t>
            </a:r>
          </a:p>
        </p:txBody>
      </p:sp>
    </p:spTree>
    <p:extLst>
      <p:ext uri="{BB962C8B-B14F-4D97-AF65-F5344CB8AC3E}">
        <p14:creationId xmlns:p14="http://schemas.microsoft.com/office/powerpoint/2010/main" val="1392183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2988971-C1E5-6E5A-C554-518A46F96432}"/>
              </a:ext>
            </a:extLst>
          </p:cNvPr>
          <p:cNvSpPr txBox="1"/>
          <p:nvPr/>
        </p:nvSpPr>
        <p:spPr>
          <a:xfrm>
            <a:off x="9457412" y="161164"/>
            <a:ext cx="25852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spc="600" dirty="0">
                <a:solidFill>
                  <a:schemeClr val="bg1"/>
                </a:solidFill>
                <a:latin typeface="Montserrat" panose="00000500000000000000" pitchFamily="2" charset="0"/>
              </a:rPr>
              <a:t>Cyber Security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84FF24F-F737-BB40-1A28-55498C7C5E4B}"/>
              </a:ext>
            </a:extLst>
          </p:cNvPr>
          <p:cNvSpPr txBox="1"/>
          <p:nvPr/>
        </p:nvSpPr>
        <p:spPr>
          <a:xfrm>
            <a:off x="582274" y="980359"/>
            <a:ext cx="48181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How Phishing </a:t>
            </a:r>
            <a:r>
              <a:rPr lang="en-US" sz="3600" dirty="0" smtClean="0">
                <a:solidFill>
                  <a:schemeClr val="bg1"/>
                </a:solidFill>
              </a:rPr>
              <a:t>Works?</a:t>
            </a:r>
            <a:endParaRPr lang="en-US" sz="36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05F80B6C-2C88-9477-905D-BF21DD1B44AB}"/>
              </a:ext>
            </a:extLst>
          </p:cNvPr>
          <p:cNvGrpSpPr/>
          <p:nvPr/>
        </p:nvGrpSpPr>
        <p:grpSpPr>
          <a:xfrm>
            <a:off x="582274" y="2039814"/>
            <a:ext cx="10973657" cy="4184041"/>
            <a:chOff x="582274" y="2039814"/>
            <a:chExt cx="10973657" cy="4184041"/>
          </a:xfrm>
        </p:grpSpPr>
        <p:pic>
          <p:nvPicPr>
            <p:cNvPr id="3074" name="Picture 2" descr="Free photo medium shot man holding device">
              <a:extLst>
                <a:ext uri="{FF2B5EF4-FFF2-40B4-BE49-F238E27FC236}">
                  <a16:creationId xmlns:a16="http://schemas.microsoft.com/office/drawing/2014/main" xmlns="" id="{8000DD95-5E76-F575-F509-53D57B6AFC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3523"/>
            <a:stretch/>
          </p:blipFill>
          <p:spPr bwMode="auto">
            <a:xfrm>
              <a:off x="582274" y="2039814"/>
              <a:ext cx="5431664" cy="41840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5B3E60E3-BCF4-E79B-38C8-8D63695227A7}"/>
                </a:ext>
              </a:extLst>
            </p:cNvPr>
            <p:cNvSpPr txBox="1"/>
            <p:nvPr/>
          </p:nvSpPr>
          <p:spPr>
            <a:xfrm>
              <a:off x="6386057" y="2302090"/>
              <a:ext cx="5169874" cy="24006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1. Attacker sends fake email/message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2. User clicks a malicious link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3. Fake website opens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4. User enters sensitive information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5. Attacker steals the data</a:t>
              </a:r>
              <a:endParaRPr lang="en-US" sz="2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4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xmlns="" id="{09E89EBF-4A69-6151-39EE-E14EB9200DC2}"/>
              </a:ext>
            </a:extLst>
          </p:cNvPr>
          <p:cNvGrpSpPr/>
          <p:nvPr/>
        </p:nvGrpSpPr>
        <p:grpSpPr>
          <a:xfrm>
            <a:off x="304800" y="1059584"/>
            <a:ext cx="11257634" cy="4942742"/>
            <a:chOff x="277874" y="1133475"/>
            <a:chExt cx="11257634" cy="4942742"/>
          </a:xfrm>
        </p:grpSpPr>
        <p:pic>
          <p:nvPicPr>
            <p:cNvPr id="4098" name="Picture 2" descr="Vector futuristic lock shield protection vector">
              <a:extLst>
                <a:ext uri="{FF2B5EF4-FFF2-40B4-BE49-F238E27FC236}">
                  <a16:creationId xmlns:a16="http://schemas.microsoft.com/office/drawing/2014/main" xmlns="" id="{F7D6BD22-C5CC-C4A8-BF29-5556F13216C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09" t="7508" r="4307" b="9597"/>
            <a:stretch/>
          </p:blipFill>
          <p:spPr bwMode="auto">
            <a:xfrm>
              <a:off x="7759111" y="1133475"/>
              <a:ext cx="3474794" cy="49427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xmlns="" id="{068B3019-BF6E-D0E4-BC9E-669E2BE8D3EE}"/>
                </a:ext>
              </a:extLst>
            </p:cNvPr>
            <p:cNvGrpSpPr/>
            <p:nvPr/>
          </p:nvGrpSpPr>
          <p:grpSpPr>
            <a:xfrm>
              <a:off x="277874" y="1255013"/>
              <a:ext cx="3740727" cy="3642816"/>
              <a:chOff x="277874" y="277442"/>
              <a:chExt cx="3740727" cy="364281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6E31F632-1C4B-4F49-3617-A860106BF7CE}"/>
                  </a:ext>
                </a:extLst>
              </p:cNvPr>
              <p:cNvSpPr txBox="1"/>
              <p:nvPr/>
            </p:nvSpPr>
            <p:spPr>
              <a:xfrm>
                <a:off x="277874" y="277442"/>
                <a:ext cx="36576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>
                    <a:solidFill>
                      <a:schemeClr val="bg1"/>
                    </a:solidFill>
                  </a:rPr>
                  <a:t>Signs of Phishing Email</a:t>
                </a:r>
                <a:endParaRPr lang="en-US" sz="36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A156AE8B-94AA-F724-6B0C-CD2B8B2E6142}"/>
                  </a:ext>
                </a:extLst>
              </p:cNvPr>
              <p:cNvSpPr txBox="1"/>
              <p:nvPr/>
            </p:nvSpPr>
            <p:spPr>
              <a:xfrm>
                <a:off x="277874" y="1750433"/>
                <a:ext cx="3740727" cy="2169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chemeClr val="bg1"/>
                    </a:solidFill>
                  </a:rPr>
                  <a:t>- Suspicious sender email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- Urgent or threatening language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- Spelling/grammar mistakes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- Unknown links or attachments</a:t>
                </a:r>
                <a:br>
                  <a:rPr lang="en-US" dirty="0">
                    <a:solidFill>
                      <a:schemeClr val="bg1"/>
                    </a:solidFill>
                  </a:rPr>
                </a:br>
                <a:r>
                  <a:rPr lang="en-US" dirty="0">
                    <a:solidFill>
                      <a:schemeClr val="bg1"/>
                    </a:solidFill>
                  </a:rPr>
                  <a:t>- Requests for sensitive information</a:t>
                </a:r>
                <a:endParaRPr lang="en-US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xmlns="" id="{0938F4BC-4811-206B-896F-A9D38780AF9D}"/>
                </a:ext>
              </a:extLst>
            </p:cNvPr>
            <p:cNvGrpSpPr/>
            <p:nvPr/>
          </p:nvGrpSpPr>
          <p:grpSpPr>
            <a:xfrm>
              <a:off x="8921264" y="1624346"/>
              <a:ext cx="2614244" cy="3961001"/>
              <a:chOff x="8921264" y="1592108"/>
              <a:chExt cx="2614244" cy="3961001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DA02BF78-34C9-F6F0-87D8-7D81A125DEC3}"/>
                  </a:ext>
                </a:extLst>
              </p:cNvPr>
              <p:cNvSpPr txBox="1"/>
              <p:nvPr/>
            </p:nvSpPr>
            <p:spPr>
              <a:xfrm>
                <a:off x="8921264" y="1592108"/>
                <a:ext cx="23446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51547123-073A-2CEA-C3BB-7668BD9105EB}"/>
                  </a:ext>
                </a:extLst>
              </p:cNvPr>
              <p:cNvSpPr txBox="1"/>
              <p:nvPr/>
            </p:nvSpPr>
            <p:spPr>
              <a:xfrm>
                <a:off x="8921264" y="3341776"/>
                <a:ext cx="26142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A84D2EF1-977B-A2F7-D7BB-D71F76A61C8C}"/>
                  </a:ext>
                </a:extLst>
              </p:cNvPr>
              <p:cNvSpPr txBox="1"/>
              <p:nvPr/>
            </p:nvSpPr>
            <p:spPr>
              <a:xfrm>
                <a:off x="8921264" y="5091444"/>
                <a:ext cx="234461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4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5516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D73B999-D75B-B2F6-BEAC-C393C596E127}"/>
              </a:ext>
            </a:extLst>
          </p:cNvPr>
          <p:cNvSpPr/>
          <p:nvPr/>
        </p:nvSpPr>
        <p:spPr>
          <a:xfrm>
            <a:off x="0" y="1125416"/>
            <a:ext cx="6600093" cy="1395046"/>
          </a:xfrm>
          <a:prstGeom prst="rect">
            <a:avLst/>
          </a:prstGeom>
          <a:gradFill>
            <a:gsLst>
              <a:gs pos="0">
                <a:srgbClr val="41258C"/>
              </a:gs>
              <a:gs pos="75000">
                <a:srgbClr val="32017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AA0B649C-DC7F-0961-50B2-BD3413AD56EB}"/>
              </a:ext>
            </a:extLst>
          </p:cNvPr>
          <p:cNvGrpSpPr/>
          <p:nvPr/>
        </p:nvGrpSpPr>
        <p:grpSpPr>
          <a:xfrm>
            <a:off x="5887184" y="0"/>
            <a:ext cx="6075118" cy="6762018"/>
            <a:chOff x="5652722" y="0"/>
            <a:chExt cx="6075118" cy="6762018"/>
          </a:xfrm>
        </p:grpSpPr>
        <p:pic>
          <p:nvPicPr>
            <p:cNvPr id="8194" name="Picture 2" descr="Free photo cyber security concept with computer close up">
              <a:extLst>
                <a:ext uri="{FF2B5EF4-FFF2-40B4-BE49-F238E27FC236}">
                  <a16:creationId xmlns:a16="http://schemas.microsoft.com/office/drawing/2014/main" xmlns="" id="{77983359-A29F-44F2-AD0E-3B727F9992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7088"/>
            <a:stretch/>
          </p:blipFill>
          <p:spPr bwMode="auto">
            <a:xfrm>
              <a:off x="5652722" y="0"/>
              <a:ext cx="2881678" cy="52050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96" name="Picture 4" descr="Free photo happy woman hacker after cracking firewall of government and getting access granted. programmer writing a dangerous malware for cyber attacks using performance laptop during midnight.">
              <a:extLst>
                <a:ext uri="{FF2B5EF4-FFF2-40B4-BE49-F238E27FC236}">
                  <a16:creationId xmlns:a16="http://schemas.microsoft.com/office/drawing/2014/main" xmlns="" id="{D20703B8-47DF-4B5C-D807-1527AD6A21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64" r="9085"/>
            <a:stretch/>
          </p:blipFill>
          <p:spPr bwMode="auto">
            <a:xfrm>
              <a:off x="8846162" y="799368"/>
              <a:ext cx="2881678" cy="5962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0F870EF-C7DF-DAFE-E7AA-99F31E11D4B4}"/>
              </a:ext>
            </a:extLst>
          </p:cNvPr>
          <p:cNvSpPr txBox="1"/>
          <p:nvPr/>
        </p:nvSpPr>
        <p:spPr>
          <a:xfrm>
            <a:off x="668216" y="1499774"/>
            <a:ext cx="41382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Fake Website Example</a:t>
            </a:r>
            <a:endParaRPr lang="en-US" sz="3200" b="1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643ABB7-9BAE-462F-4CE5-F1B95DD47D1A}"/>
              </a:ext>
            </a:extLst>
          </p:cNvPr>
          <p:cNvSpPr txBox="1"/>
          <p:nvPr/>
        </p:nvSpPr>
        <p:spPr>
          <a:xfrm>
            <a:off x="668216" y="2743199"/>
            <a:ext cx="4712676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Phishing websites look like real ones but have: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Slightly different URLs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No HTTPS security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- Poor design or broken elements</a:t>
            </a:r>
            <a:endParaRPr lang="en-US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3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0373ECE3-1A1E-3C5C-2E52-FC89C87FEBAA}"/>
              </a:ext>
            </a:extLst>
          </p:cNvPr>
          <p:cNvGrpSpPr/>
          <p:nvPr/>
        </p:nvGrpSpPr>
        <p:grpSpPr>
          <a:xfrm>
            <a:off x="523346" y="1670421"/>
            <a:ext cx="11543148" cy="4588077"/>
            <a:chOff x="691554" y="1123575"/>
            <a:chExt cx="11543148" cy="458807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xmlns="" id="{F75E476B-1FB8-8397-CC11-F5065771C5E9}"/>
                </a:ext>
              </a:extLst>
            </p:cNvPr>
            <p:cNvGrpSpPr/>
            <p:nvPr/>
          </p:nvGrpSpPr>
          <p:grpSpPr>
            <a:xfrm>
              <a:off x="691554" y="1123575"/>
              <a:ext cx="11543148" cy="2958977"/>
              <a:chOff x="691554" y="1486990"/>
              <a:chExt cx="11543148" cy="2958977"/>
            </a:xfrm>
          </p:grpSpPr>
          <p:pic>
            <p:nvPicPr>
              <p:cNvPr id="5122" name="Picture 2" descr="Free vector abstract secure technology background with circuit">
                <a:extLst>
                  <a:ext uri="{FF2B5EF4-FFF2-40B4-BE49-F238E27FC236}">
                    <a16:creationId xmlns:a16="http://schemas.microsoft.com/office/drawing/2014/main" xmlns="" id="{1E83C168-6AB2-0CB7-1F48-8BE1CDBDD7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1554" y="1486990"/>
                <a:ext cx="4442013" cy="2958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xmlns="" id="{1814B557-B75B-AD69-699C-8803DC9AAAC3}"/>
                  </a:ext>
                </a:extLst>
              </p:cNvPr>
              <p:cNvGrpSpPr/>
              <p:nvPr/>
            </p:nvGrpSpPr>
            <p:grpSpPr>
              <a:xfrm>
                <a:off x="5774711" y="1519205"/>
                <a:ext cx="6459991" cy="2644752"/>
                <a:chOff x="5145695" y="887968"/>
                <a:chExt cx="5831446" cy="2644752"/>
              </a:xfrm>
            </p:grpSpPr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xmlns="" id="{DCCB54F0-9130-0BF4-217B-CFF1309DD81F}"/>
                    </a:ext>
                  </a:extLst>
                </p:cNvPr>
                <p:cNvSpPr txBox="1"/>
                <p:nvPr/>
              </p:nvSpPr>
              <p:spPr>
                <a:xfrm>
                  <a:off x="5145695" y="887968"/>
                  <a:ext cx="4442013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3600" dirty="0">
                      <a:solidFill>
                        <a:schemeClr val="bg1"/>
                      </a:solidFill>
                    </a:rPr>
                    <a:t>Social Engineering Tricks</a:t>
                  </a:r>
                  <a:endParaRPr lang="en-US" sz="3600" b="1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xmlns="" id="{D221B7DA-1AED-52F4-1A46-AE86E96B2246}"/>
                    </a:ext>
                  </a:extLst>
                </p:cNvPr>
                <p:cNvSpPr txBox="1"/>
                <p:nvPr/>
              </p:nvSpPr>
              <p:spPr>
                <a:xfrm>
                  <a:off x="5218528" y="1778394"/>
                  <a:ext cx="5758613" cy="17543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dirty="0">
                      <a:solidFill>
                        <a:schemeClr val="bg1"/>
                      </a:solidFill>
                    </a:rPr>
                    <a:t>- Creating urgency ("Act now!")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Fear ("Your account will be locked")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Authority ("Bank request")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Curiosity ("You won a prize!")</a:t>
                  </a:r>
                  <a:endParaRPr lang="en-US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xmlns="" id="{7E486171-DC20-7910-3F55-A650AD701ECD}"/>
                </a:ext>
              </a:extLst>
            </p:cNvPr>
            <p:cNvGrpSpPr/>
            <p:nvPr/>
          </p:nvGrpSpPr>
          <p:grpSpPr>
            <a:xfrm>
              <a:off x="938029" y="5342320"/>
              <a:ext cx="6811841" cy="369332"/>
              <a:chOff x="418367" y="4871557"/>
              <a:chExt cx="6811841" cy="369332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="" id="{40551474-8216-1718-6A9D-9AE6952B44BA}"/>
                  </a:ext>
                </a:extLst>
              </p:cNvPr>
              <p:cNvSpPr txBox="1"/>
              <p:nvPr/>
            </p:nvSpPr>
            <p:spPr>
              <a:xfrm>
                <a:off x="418367" y="4871557"/>
                <a:ext cx="2881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xmlns="" id="{C676416D-2DA3-78C5-EB37-C1B0AAB77CE6}"/>
                  </a:ext>
                </a:extLst>
              </p:cNvPr>
              <p:cNvSpPr txBox="1"/>
              <p:nvPr/>
            </p:nvSpPr>
            <p:spPr>
              <a:xfrm>
                <a:off x="4348528" y="4871557"/>
                <a:ext cx="28816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896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B3BB9317-1EB2-A674-E0B6-27D127894553}"/>
              </a:ext>
            </a:extLst>
          </p:cNvPr>
          <p:cNvGrpSpPr/>
          <p:nvPr/>
        </p:nvGrpSpPr>
        <p:grpSpPr>
          <a:xfrm>
            <a:off x="492369" y="447675"/>
            <a:ext cx="11699631" cy="5962650"/>
            <a:chOff x="492369" y="447675"/>
            <a:chExt cx="11699631" cy="5962650"/>
          </a:xfrm>
        </p:grpSpPr>
        <p:pic>
          <p:nvPicPr>
            <p:cNvPr id="2" name="Picture 2" descr="Free photo 3d internet secuirty badge">
              <a:extLst>
                <a:ext uri="{FF2B5EF4-FFF2-40B4-BE49-F238E27FC236}">
                  <a16:creationId xmlns:a16="http://schemas.microsoft.com/office/drawing/2014/main" xmlns="" id="{00F49D12-F34A-3A4D-073D-DFEFB7FED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9350" y="447675"/>
              <a:ext cx="5962650" cy="5962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xmlns="" id="{4CDE259F-42E4-6A00-BAD5-764FB00773F5}"/>
                </a:ext>
              </a:extLst>
            </p:cNvPr>
            <p:cNvGrpSpPr/>
            <p:nvPr/>
          </p:nvGrpSpPr>
          <p:grpSpPr>
            <a:xfrm>
              <a:off x="492369" y="1330416"/>
              <a:ext cx="6940061" cy="5079909"/>
              <a:chOff x="492369" y="1330416"/>
              <a:chExt cx="6940061" cy="5079909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7B5871EC-4BBD-F7C0-0231-4FE989E6E555}"/>
                  </a:ext>
                </a:extLst>
              </p:cNvPr>
              <p:cNvSpPr txBox="1"/>
              <p:nvPr/>
            </p:nvSpPr>
            <p:spPr>
              <a:xfrm>
                <a:off x="492369" y="1330416"/>
                <a:ext cx="5404339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dirty="0">
                    <a:solidFill>
                      <a:schemeClr val="bg1"/>
                    </a:solidFill>
                  </a:rPr>
                  <a:t>How to Stay Safe</a:t>
                </a:r>
                <a:endParaRPr lang="en-US" sz="4800" b="1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xmlns="" id="{417F454C-63E5-22F4-FBAE-69D2F4D8B1A4}"/>
                  </a:ext>
                </a:extLst>
              </p:cNvPr>
              <p:cNvGrpSpPr/>
              <p:nvPr/>
            </p:nvGrpSpPr>
            <p:grpSpPr>
              <a:xfrm>
                <a:off x="492369" y="3305908"/>
                <a:ext cx="6940061" cy="3104417"/>
                <a:chOff x="492369" y="3305908"/>
                <a:chExt cx="6940061" cy="3104417"/>
              </a:xfrm>
            </p:grpSpPr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xmlns="" id="{4797E9D4-C780-8348-7C0D-1E5F88F9C4E8}"/>
                    </a:ext>
                  </a:extLst>
                </p:cNvPr>
                <p:cNvSpPr/>
                <p:nvPr/>
              </p:nvSpPr>
              <p:spPr>
                <a:xfrm>
                  <a:off x="492369" y="3305908"/>
                  <a:ext cx="6940061" cy="3104417"/>
                </a:xfrm>
                <a:prstGeom prst="rect">
                  <a:avLst/>
                </a:prstGeom>
                <a:gradFill>
                  <a:gsLst>
                    <a:gs pos="0">
                      <a:schemeClr val="accent4"/>
                    </a:gs>
                    <a:gs pos="44000">
                      <a:srgbClr val="41258C"/>
                    </a:gs>
                    <a:gs pos="100000">
                      <a:srgbClr val="320175"/>
                    </a:gs>
                  </a:gsLst>
                  <a:lin ang="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xmlns="" id="{EEAF5210-78D8-4448-3053-CA77402422EB}"/>
                    </a:ext>
                  </a:extLst>
                </p:cNvPr>
                <p:cNvSpPr txBox="1"/>
                <p:nvPr/>
              </p:nvSpPr>
              <p:spPr>
                <a:xfrm>
                  <a:off x="855785" y="3796608"/>
                  <a:ext cx="6365630" cy="21352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dirty="0">
                      <a:solidFill>
                        <a:schemeClr val="bg1"/>
                      </a:solidFill>
                    </a:rPr>
                    <a:t>- Never click suspicious links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Verify sender email address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Use strong passwords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Enable 2-factor authentication</a:t>
                  </a:r>
                  <a:br>
                    <a:rPr lang="en-US" dirty="0">
                      <a:solidFill>
                        <a:schemeClr val="bg1"/>
                      </a:solidFill>
                    </a:rPr>
                  </a:br>
                  <a:r>
                    <a:rPr lang="en-US" dirty="0">
                      <a:solidFill>
                        <a:schemeClr val="bg1"/>
                      </a:solidFill>
                    </a:rPr>
                    <a:t>- Keep software updated</a:t>
                  </a:r>
                  <a:endParaRPr lang="en-US" dirty="0">
                    <a:solidFill>
                      <a:schemeClr val="bg1"/>
                    </a:solidFill>
                    <a:latin typeface="Montserrat" panose="00000500000000000000" pitchFamily="2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696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3B53FFB-71E4-57D1-5F79-380475396A89}"/>
              </a:ext>
            </a:extLst>
          </p:cNvPr>
          <p:cNvGrpSpPr/>
          <p:nvPr/>
        </p:nvGrpSpPr>
        <p:grpSpPr>
          <a:xfrm>
            <a:off x="318721" y="464161"/>
            <a:ext cx="11554558" cy="2600325"/>
            <a:chOff x="523874" y="464161"/>
            <a:chExt cx="11554558" cy="2600325"/>
          </a:xfrm>
        </p:grpSpPr>
        <p:pic>
          <p:nvPicPr>
            <p:cNvPr id="7170" name="Picture 2" descr="Photo padlock with keyhole in data security on circuit modern safety digital concept">
              <a:extLst>
                <a:ext uri="{FF2B5EF4-FFF2-40B4-BE49-F238E27FC236}">
                  <a16:creationId xmlns:a16="http://schemas.microsoft.com/office/drawing/2014/main" xmlns="" id="{73AC8A2B-3412-EBE2-98E9-C1275051C09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550" r="-1"/>
            <a:stretch/>
          </p:blipFill>
          <p:spPr bwMode="auto">
            <a:xfrm>
              <a:off x="6506307" y="464161"/>
              <a:ext cx="5572125" cy="26003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Photo shield with padlock icon cyber attack block cyber data and information privacy concept">
              <a:extLst>
                <a:ext uri="{FF2B5EF4-FFF2-40B4-BE49-F238E27FC236}">
                  <a16:creationId xmlns:a16="http://schemas.microsoft.com/office/drawing/2014/main" xmlns="" id="{C378E86F-BD0D-E18B-0ACA-2FB65D46D6C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16"/>
            <a:stretch/>
          </p:blipFill>
          <p:spPr bwMode="auto">
            <a:xfrm>
              <a:off x="523874" y="464161"/>
              <a:ext cx="5572125" cy="26003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D2DFD144-9665-AFCD-CC39-961DBCBF8D9A}"/>
              </a:ext>
            </a:extLst>
          </p:cNvPr>
          <p:cNvGrpSpPr/>
          <p:nvPr/>
        </p:nvGrpSpPr>
        <p:grpSpPr>
          <a:xfrm>
            <a:off x="634694" y="3696250"/>
            <a:ext cx="11557306" cy="2585323"/>
            <a:chOff x="-209916" y="3429000"/>
            <a:chExt cx="11557306" cy="258532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xmlns="" id="{40236DEE-167E-E859-9618-B107A724B03B}"/>
                </a:ext>
              </a:extLst>
            </p:cNvPr>
            <p:cNvSpPr txBox="1"/>
            <p:nvPr/>
          </p:nvSpPr>
          <p:spPr>
            <a:xfrm>
              <a:off x="-209916" y="3429000"/>
              <a:ext cx="550874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</a:rPr>
                <a:t>Real-Life Example</a:t>
              </a:r>
              <a:endParaRPr lang="en-US" sz="3600" b="1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A14E8B44-9E92-DB46-4DC8-04328145537B}"/>
                </a:ext>
              </a:extLst>
            </p:cNvPr>
            <p:cNvSpPr txBox="1"/>
            <p:nvPr/>
          </p:nvSpPr>
          <p:spPr>
            <a:xfrm>
              <a:off x="-209916" y="4075331"/>
              <a:ext cx="1155730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dirty="0">
                  <a:solidFill>
                    <a:schemeClr val="bg1"/>
                  </a:solidFill>
                </a:rPr>
                <a:t>Example: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You receive an email from "your bank" asking to verify your account.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The link redirects to a fake website.</a:t>
              </a:r>
              <a:br>
                <a:rPr lang="en-US" sz="2000" dirty="0">
                  <a:solidFill>
                    <a:schemeClr val="bg1"/>
                  </a:solidFill>
                </a:rPr>
              </a:br>
              <a:r>
                <a:rPr lang="en-US" sz="2000" dirty="0">
                  <a:solidFill>
                    <a:schemeClr val="bg1"/>
                  </a:solidFill>
                </a:rPr>
                <a:t>If you enter your login details, attackers steal your account.</a:t>
              </a:r>
              <a:endParaRPr lang="en-US" sz="2000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326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D47DFBC-5F93-6D59-BCE4-49EF6F63E828}"/>
              </a:ext>
            </a:extLst>
          </p:cNvPr>
          <p:cNvSpPr/>
          <p:nvPr/>
        </p:nvSpPr>
        <p:spPr>
          <a:xfrm>
            <a:off x="363415" y="451338"/>
            <a:ext cx="5732585" cy="5955324"/>
          </a:xfrm>
          <a:prstGeom prst="rect">
            <a:avLst/>
          </a:prstGeom>
          <a:gradFill>
            <a:gsLst>
              <a:gs pos="0">
                <a:srgbClr val="41258C"/>
              </a:gs>
              <a:gs pos="75000">
                <a:srgbClr val="320175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BA840A06-AEF1-A6FF-0D32-2842B798AB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261" y="451338"/>
            <a:ext cx="5955324" cy="595532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75A2BAF0-9EF1-DCF2-EED8-B79319C803BD}"/>
              </a:ext>
            </a:extLst>
          </p:cNvPr>
          <p:cNvGrpSpPr/>
          <p:nvPr/>
        </p:nvGrpSpPr>
        <p:grpSpPr>
          <a:xfrm>
            <a:off x="865676" y="1544281"/>
            <a:ext cx="4456601" cy="2535127"/>
            <a:chOff x="865676" y="1752030"/>
            <a:chExt cx="4456601" cy="253512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86069D18-88E9-0F7C-3B65-ADA531C727CB}"/>
                </a:ext>
              </a:extLst>
            </p:cNvPr>
            <p:cNvSpPr txBox="1"/>
            <p:nvPr/>
          </p:nvSpPr>
          <p:spPr>
            <a:xfrm>
              <a:off x="865676" y="1752030"/>
              <a:ext cx="400929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i="0" dirty="0">
                  <a:solidFill>
                    <a:srgbClr val="ECECF1"/>
                  </a:solidFill>
                  <a:effectLst/>
                  <a:latin typeface="Montserrat" panose="00000500000000000000" pitchFamily="2" charset="0"/>
                </a:rPr>
                <a:t>Conclusion</a:t>
              </a:r>
              <a:endParaRPr lang="en-US" sz="3600" b="1" dirty="0">
                <a:latin typeface="Montserrat" panose="00000500000000000000" pitchFamily="2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C4A6AD28-3AD7-D48A-CB3E-C20226AF173B}"/>
                </a:ext>
              </a:extLst>
            </p:cNvPr>
            <p:cNvSpPr txBox="1"/>
            <p:nvPr/>
          </p:nvSpPr>
          <p:spPr>
            <a:xfrm>
              <a:off x="865676" y="2567455"/>
              <a:ext cx="4456601" cy="17197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bg1"/>
                  </a:solidFill>
                </a:rPr>
                <a:t>Phishing is one of the most common cyber attacks.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Awareness is the best defense.</a:t>
              </a:r>
              <a:br>
                <a:rPr lang="en-US" dirty="0">
                  <a:solidFill>
                    <a:schemeClr val="bg1"/>
                  </a:solidFill>
                </a:rPr>
              </a:br>
              <a:r>
                <a:rPr lang="en-US" dirty="0">
                  <a:solidFill>
                    <a:schemeClr val="bg1"/>
                  </a:solidFill>
                </a:rPr>
                <a:t>Always think before you click!</a:t>
              </a:r>
              <a:endParaRPr lang="en-US" dirty="0">
                <a:solidFill>
                  <a:schemeClr val="bg1"/>
                </a:solidFill>
                <a:latin typeface="Montserra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769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47">
      <a:dk1>
        <a:srgbClr val="000000"/>
      </a:dk1>
      <a:lt1>
        <a:srgbClr val="FFFFFF"/>
      </a:lt1>
      <a:dk2>
        <a:srgbClr val="262626"/>
      </a:dk2>
      <a:lt2>
        <a:srgbClr val="FFFFFF"/>
      </a:lt2>
      <a:accent1>
        <a:srgbClr val="080C39"/>
      </a:accent1>
      <a:accent2>
        <a:srgbClr val="18297E"/>
      </a:accent2>
      <a:accent3>
        <a:srgbClr val="41258C"/>
      </a:accent3>
      <a:accent4>
        <a:srgbClr val="320175"/>
      </a:accent4>
      <a:accent5>
        <a:srgbClr val="2993FF"/>
      </a:accent5>
      <a:accent6>
        <a:srgbClr val="7F739A"/>
      </a:accent6>
      <a:hlink>
        <a:srgbClr val="FFFFFF"/>
      </a:hlink>
      <a:folHlink>
        <a:srgbClr val="59595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126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Leelawadee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Lenovo</cp:lastModifiedBy>
  <cp:revision>6</cp:revision>
  <dcterms:created xsi:type="dcterms:W3CDTF">2023-06-08T10:24:05Z</dcterms:created>
  <dcterms:modified xsi:type="dcterms:W3CDTF">2026-03-20T15:56:56Z</dcterms:modified>
</cp:coreProperties>
</file>